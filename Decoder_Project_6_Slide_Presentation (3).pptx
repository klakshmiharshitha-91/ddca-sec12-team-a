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5F28D-B9E7-4DF1-BDE7-21DE44DA5711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79472B-BF50-4A2C-A7D8-54E9D78699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3911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79472B-BF50-4A2C-A7D8-54E9D78699C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570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1F3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411480" y="109728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11480" y="182880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11480" y="256032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11480" y="329184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11480" y="402336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475488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" y="5486400"/>
            <a:ext cx="2788920" cy="0"/>
          </a:xfrm>
          <a:prstGeom prst="line">
            <a:avLst/>
          </a:prstGeom>
          <a:ln w="12700">
            <a:solidFill>
              <a:srgbClr val="4264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667512" y="1033271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67512" y="249631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7512" y="395935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67512" y="542239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444751" y="1033271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44751" y="249631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444751" y="395935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444751" y="542239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21992" y="1033271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21992" y="249631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221992" y="395935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221992" y="542239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999232" y="1033271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2999232" y="249631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999232" y="395935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999232" y="5422392"/>
            <a:ext cx="128016" cy="128016"/>
          </a:xfrm>
          <a:prstGeom prst="ellipse">
            <a:avLst/>
          </a:prstGeom>
          <a:solidFill>
            <a:srgbClr val="F4A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502920"/>
            <a:ext cx="2880360" cy="5943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FINAL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1508760"/>
            <a:ext cx="2926080" cy="20574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DECODER
DESIGN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4139279"/>
            <a:ext cx="2834640" cy="187128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800" b="0" dirty="0">
                <a:solidFill>
                  <a:srgbClr val="D1E6EF"/>
                </a:solidFill>
                <a:latin typeface="Aptos"/>
              </a:rPr>
              <a:t>Digital Logic Design
Logisim Demonstration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777240"/>
            <a:ext cx="7223760" cy="1463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Design of 2-to-4 and 3-to-8 Decoders Using Logic Gates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07408" y="2148840"/>
            <a:ext cx="69494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S4 / S12 • Final Project Presentation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2834640"/>
            <a:ext cx="7132320" cy="246888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0" y="3063240"/>
            <a:ext cx="65836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1">
                <a:solidFill>
                  <a:srgbClr val="148C8C"/>
                </a:solidFill>
                <a:latin typeface="Aptos"/>
              </a:rPr>
              <a:t>TEAM MEMBERS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3520440"/>
            <a:ext cx="65379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8333D"/>
                </a:solidFill>
                <a:latin typeface="Aptos"/>
              </a:rPr>
              <a:t>2620030064  —  Deethya Reddy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3904488"/>
            <a:ext cx="65379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8333D"/>
                </a:solidFill>
                <a:latin typeface="Aptos"/>
              </a:rPr>
              <a:t>2620030069  —  Aman Kumar Shah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1728" y="4288536"/>
            <a:ext cx="65379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8333D"/>
                </a:solidFill>
                <a:latin typeface="Aptos"/>
              </a:rPr>
              <a:t>2620030077  —  Maroju Venkata Sairam Harsha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4672584"/>
            <a:ext cx="653796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28333D"/>
                </a:solidFill>
                <a:latin typeface="Aptos"/>
              </a:rPr>
              <a:t>2620030091  —  Katrenikona Lakshmi Harshitha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5897880"/>
            <a:ext cx="676656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64737D"/>
                </a:solidFill>
                <a:latin typeface="Aptos"/>
              </a:rPr>
              <a:t>Project focus: logic • circuit design • simulation • applications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Introduction and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A decoder converts a binary input code into one active output 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051560" cy="54864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1">
                <a:solidFill>
                  <a:srgbClr val="64737D"/>
                </a:solidFill>
                <a:latin typeface="Aptos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4406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148C8C"/>
                </a:solidFill>
                <a:latin typeface="Aptos"/>
              </a:rPr>
              <a:t>WHAT IS A DECODER?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754880" cy="333756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8333D"/>
                </a:solidFill>
                <a:latin typeface="Aptos"/>
              </a:defRPr>
            </a:pPr>
            <a:r>
              <a:t>•  A combinational logic circuit with n input bits and up to 2ⁿ output lines.</a:t>
            </a:r>
          </a:p>
          <a:p>
            <a:pPr>
              <a:spcAft>
                <a:spcPts val="1200"/>
              </a:spcAft>
              <a:defRPr sz="1600">
                <a:solidFill>
                  <a:srgbClr val="28333D"/>
                </a:solidFill>
                <a:latin typeface="Aptos"/>
              </a:defRPr>
            </a:pPr>
            <a:r>
              <a:t>•  For each valid input combination, one output is HIGH (1) and the others are LOW (0).</a:t>
            </a:r>
          </a:p>
          <a:p>
            <a:pPr>
              <a:spcAft>
                <a:spcPts val="1200"/>
              </a:spcAft>
              <a:defRPr sz="1600">
                <a:solidFill>
                  <a:srgbClr val="28333D"/>
                </a:solidFill>
                <a:latin typeface="Aptos"/>
              </a:defRPr>
            </a:pPr>
            <a:r>
              <a:t>•  The outputs represent the binary value of the input.</a:t>
            </a:r>
          </a:p>
          <a:p>
            <a:pPr>
              <a:spcAft>
                <a:spcPts val="1200"/>
              </a:spcAft>
              <a:defRPr sz="1600">
                <a:solidFill>
                  <a:srgbClr val="28333D"/>
                </a:solidFill>
                <a:latin typeface="Aptos"/>
              </a:defRPr>
            </a:pPr>
            <a:r>
              <a:t>•  A decoder can be built from NOT, AND and enable logic.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600" b="1">
                <a:solidFill>
                  <a:srgbClr val="148C8C"/>
                </a:solidFill>
                <a:latin typeface="Aptos"/>
              </a:rPr>
              <a:t>PROJECT OBJECTIVES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331720"/>
            <a:ext cx="1325880" cy="731520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2-bit input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55279" y="2697480"/>
            <a:ext cx="548641" cy="0"/>
          </a:xfrm>
          <a:prstGeom prst="line">
            <a:avLst/>
          </a:prstGeom>
          <a:ln w="2540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03920" y="2267712"/>
            <a:ext cx="1143000" cy="868680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Decoder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46920" y="2697480"/>
            <a:ext cx="457200" cy="0"/>
          </a:xfrm>
          <a:prstGeom prst="line">
            <a:avLst/>
          </a:prstGeom>
          <a:ln w="2540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104120" y="2331720"/>
            <a:ext cx="1143000" cy="731520"/>
          </a:xfrm>
          <a:prstGeom prst="roundRect">
            <a:avLst/>
          </a:prstGeom>
          <a:solidFill>
            <a:srgbClr val="E8F6EA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4 outputs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520440"/>
            <a:ext cx="4663440" cy="192024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Design a 2-to-4 decoder using logic gates.</a:t>
            </a:r>
          </a:p>
          <a:p>
            <a:pPr>
              <a:spcAft>
                <a:spcPts val="9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Extend the idea to a 3-to-8 decoder.</a:t>
            </a:r>
          </a:p>
          <a:p>
            <a:pPr>
              <a:spcAft>
                <a:spcPts val="9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Verify all input combinations in Logisim.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Theory and Logic Circuit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2-to-4 decoder: two inputs select exactly one of four outputs.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051560" cy="54864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1">
                <a:solidFill>
                  <a:srgbClr val="64737D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46634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411480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BOOLEAN EXPRESSIONS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0679" y="2158365"/>
            <a:ext cx="3886200" cy="438912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E1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F374F"/>
                </a:solidFill>
                <a:latin typeface="Aptos"/>
              </a:rPr>
              <a:t>Y₀ = A̅B̅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70632"/>
            <a:ext cx="3886200" cy="438912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E1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98064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F374F"/>
                </a:solidFill>
                <a:latin typeface="Aptos"/>
              </a:rPr>
              <a:t>Y₁ = A̅B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392424"/>
            <a:ext cx="3886200" cy="438912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E1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6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F374F"/>
                </a:solidFill>
                <a:latin typeface="Aptos"/>
              </a:rPr>
              <a:t>Y₂ = AB̅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014216"/>
            <a:ext cx="3886200" cy="438912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E1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4041648"/>
            <a:ext cx="365760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700" b="1">
                <a:solidFill>
                  <a:srgbClr val="1F374F"/>
                </a:solidFill>
                <a:latin typeface="Aptos"/>
              </a:rPr>
              <a:t>Y₃ = AB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800600"/>
            <a:ext cx="39319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64737D"/>
                </a:solidFill>
                <a:latin typeface="Aptos"/>
              </a:rPr>
              <a:t>A̅ and B̅ are produced using NOT gates. Each output is an AND of one unique input combination.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1417320"/>
            <a:ext cx="6263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0" y="1645920"/>
            <a:ext cx="5669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LOGIC STRUCTURE (CONCEPTUAL)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331720"/>
            <a:ext cx="411480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703320"/>
            <a:ext cx="411480" cy="32004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B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26480" y="2487168"/>
            <a:ext cx="548640" cy="0"/>
          </a:xfrm>
          <a:prstGeom prst="line">
            <a:avLst/>
          </a:prstGeom>
          <a:ln w="22860">
            <a:solidFill>
              <a:srgbClr val="1F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126480" y="3858768"/>
            <a:ext cx="548640" cy="0"/>
          </a:xfrm>
          <a:prstGeom prst="line">
            <a:avLst/>
          </a:prstGeom>
          <a:ln w="22860">
            <a:solidFill>
              <a:srgbClr val="1F3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675120" y="2176272"/>
            <a:ext cx="868680" cy="594360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NOT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547872"/>
            <a:ext cx="868680" cy="594360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NOT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212848"/>
            <a:ext cx="548640" cy="5029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374F"/>
                </a:solidFill>
                <a:latin typeface="Aptos"/>
              </a:rPr>
              <a:t>A̅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584448"/>
            <a:ext cx="548640" cy="50292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200" b="1">
                <a:solidFill>
                  <a:srgbClr val="1F374F"/>
                </a:solidFill>
                <a:latin typeface="Aptos"/>
              </a:rPr>
              <a:t>B̅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6760" y="2057400"/>
            <a:ext cx="1051560" cy="530352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AND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8138160" y="2322576"/>
            <a:ext cx="228600" cy="164592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138160" y="2322576"/>
            <a:ext cx="228600" cy="164592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418320" y="2322576"/>
            <a:ext cx="457200" cy="0"/>
          </a:xfrm>
          <a:prstGeom prst="line">
            <a:avLst/>
          </a:prstGeom>
          <a:ln w="1778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9875520" y="2112264"/>
            <a:ext cx="105156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374F"/>
                </a:solidFill>
                <a:latin typeface="Aptos"/>
              </a:rPr>
              <a:t>Y0 = A̅B̅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66760" y="2880360"/>
            <a:ext cx="1051560" cy="530352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AND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38160" y="2487168"/>
            <a:ext cx="228600" cy="658368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138160" y="3145536"/>
            <a:ext cx="228600" cy="713232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418320" y="3145536"/>
            <a:ext cx="457200" cy="0"/>
          </a:xfrm>
          <a:prstGeom prst="line">
            <a:avLst/>
          </a:prstGeom>
          <a:ln w="1778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875520" y="2935224"/>
            <a:ext cx="105156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374F"/>
                </a:solidFill>
                <a:latin typeface="Aptos"/>
              </a:rPr>
              <a:t>Y1 = A̅B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66760" y="3703320"/>
            <a:ext cx="1051560" cy="530352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AND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138160" y="3858768"/>
            <a:ext cx="228600" cy="109728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138160" y="2487168"/>
            <a:ext cx="228600" cy="1481328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418320" y="3968496"/>
            <a:ext cx="457200" cy="0"/>
          </a:xfrm>
          <a:prstGeom prst="line">
            <a:avLst/>
          </a:prstGeom>
          <a:ln w="1778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875520" y="3758183"/>
            <a:ext cx="105156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374F"/>
                </a:solidFill>
                <a:latin typeface="Aptos"/>
              </a:rPr>
              <a:t>Y2 = AB̅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66760" y="4526280"/>
            <a:ext cx="1051560" cy="530352"/>
          </a:xfrm>
          <a:prstGeom prst="roundRect">
            <a:avLst/>
          </a:prstGeom>
          <a:solidFill>
            <a:srgbClr val="E1F3F8"/>
          </a:solidFill>
          <a:ln w="19050">
            <a:solidFill>
              <a:srgbClr val="14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F374F"/>
                </a:solidFill>
                <a:latin typeface="Aptos"/>
              </a:rPr>
              <a:t>AND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138160" y="3858768"/>
            <a:ext cx="228600" cy="932688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138160" y="3858768"/>
            <a:ext cx="228600" cy="932688"/>
          </a:xfrm>
          <a:prstGeom prst="line">
            <a:avLst/>
          </a:prstGeom>
          <a:ln w="1524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418320" y="4791456"/>
            <a:ext cx="457200" cy="0"/>
          </a:xfrm>
          <a:prstGeom prst="line">
            <a:avLst/>
          </a:prstGeom>
          <a:ln w="17780">
            <a:solidFill>
              <a:srgbClr val="14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9875520" y="4581144"/>
            <a:ext cx="1051560" cy="41148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/>
            <a:r>
              <a:rPr sz="1100" b="1">
                <a:solidFill>
                  <a:srgbClr val="1F374F"/>
                </a:solidFill>
                <a:latin typeface="Aptos"/>
              </a:rPr>
              <a:t>Y3 = AB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5349240"/>
            <a:ext cx="55778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64737D"/>
                </a:solidFill>
                <a:latin typeface="Aptos"/>
              </a:rPr>
              <a:t>The same principle scales to 3 inputs and 8 minterms.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Circuit Design in Logisim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Build each output from the required input literals using NOT and AND gates.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051560" cy="54864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1">
                <a:solidFill>
                  <a:srgbClr val="64737D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492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2-TO-4 DECODER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709160" cy="324612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1. Place two input pins: A and B.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2. Use NOT gates to create A̅ and B̅.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3. Place four 2-input AND gates.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4. Wire the four combinations to Y₀–Y₃.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5. Add output pins/LEDs and toggle A, B.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526280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66420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3-TO-8 DECODER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709160" cy="324612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1. Place three input pins: A, B and C.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2. Create A̅, B̅ and C̅ with NOT gates.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3. Use eight 3-input AND gates (or equivalent gates).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4. Connect one minterm to each output Y₀–Y₇.</a:t>
            </a:r>
          </a:p>
          <a:p>
            <a:pPr>
              <a:spcAft>
                <a:spcPts val="12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5. Test all 8 combinations from 000 to 111.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3197BE4D-9228-F759-F28A-B308CF41B76D}"/>
              </a:ext>
            </a:extLst>
          </p:cNvPr>
          <p:cNvSpPr/>
          <p:nvPr/>
        </p:nvSpPr>
        <p:spPr>
          <a:xfrm>
            <a:off x="740229" y="424543"/>
            <a:ext cx="10872651" cy="6106886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2B7614-C945-179A-BD96-B81810140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128" y="1208314"/>
            <a:ext cx="9263743" cy="444137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45A20DF-5798-A150-CAF8-8B9D4AE1C6B4}"/>
              </a:ext>
            </a:extLst>
          </p:cNvPr>
          <p:cNvSpPr txBox="1"/>
          <p:nvPr/>
        </p:nvSpPr>
        <p:spPr>
          <a:xfrm>
            <a:off x="1752600" y="424543"/>
            <a:ext cx="5704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2-4 DECODER:</a:t>
            </a:r>
            <a:endParaRPr lang="en-IN" sz="4000" b="1" dirty="0"/>
          </a:p>
        </p:txBody>
      </p:sp>
    </p:spTree>
    <p:extLst>
      <p:ext uri="{BB962C8B-B14F-4D97-AF65-F5344CB8AC3E}">
        <p14:creationId xmlns:p14="http://schemas.microsoft.com/office/powerpoint/2010/main" val="3954538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8">
            <a:extLst>
              <a:ext uri="{FF2B5EF4-FFF2-40B4-BE49-F238E27FC236}">
                <a16:creationId xmlns:a16="http://schemas.microsoft.com/office/drawing/2014/main" id="{E89D0FA0-9819-E601-EB17-C4CFF1347C97}"/>
              </a:ext>
            </a:extLst>
          </p:cNvPr>
          <p:cNvSpPr/>
          <p:nvPr/>
        </p:nvSpPr>
        <p:spPr>
          <a:xfrm>
            <a:off x="381000" y="239486"/>
            <a:ext cx="11231880" cy="6226628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B677B8-C966-A18D-7795-CAF7C8A3E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8898" y="577703"/>
            <a:ext cx="4934204" cy="57025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AF129D-692F-A1AF-6CE1-ABA5462C7045}"/>
              </a:ext>
            </a:extLst>
          </p:cNvPr>
          <p:cNvSpPr txBox="1"/>
          <p:nvPr/>
        </p:nvSpPr>
        <p:spPr>
          <a:xfrm>
            <a:off x="642257" y="1905000"/>
            <a:ext cx="269965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3-8 DECODER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6467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Simulation Results and Truth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Expected outputs for active-HIGH decoders; use these tables to verify the Logisim circuit.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051560" cy="54864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1">
                <a:solidFill>
                  <a:srgbClr val="64737D"/>
                </a:solidFill>
                <a:latin typeface="Aptos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1206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2-TO-4 DECODER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783080"/>
          <a:ext cx="5248656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692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Y₀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Y₁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Y₂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Y₃</a:t>
                      </a:r>
                    </a:p>
                  </a:txBody>
                  <a:tcPr marL="18288" marR="18288" marT="18288" marB="18288">
                    <a:solidFill>
                      <a:srgbClr val="1F3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E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4160520"/>
            <a:ext cx="493776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64737D"/>
                </a:solidFill>
                <a:latin typeface="Aptos"/>
              </a:rPr>
              <a:t>Check: exactly one output is 1 for every input pair.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52120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3-TO-8 DECODER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783080"/>
          <a:ext cx="534924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</a:t>
                      </a:r>
                    </a:p>
                  </a:txBody>
                  <a:tcPr marL="18288" marR="18288" marT="9144" marB="9144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B</a:t>
                      </a:r>
                    </a:p>
                  </a:txBody>
                  <a:tcPr marL="18288" marR="18288" marT="9144" marB="9144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</a:t>
                      </a:r>
                    </a:p>
                  </a:txBody>
                  <a:tcPr marL="18288" marR="18288" marT="9144" marB="9144">
                    <a:solidFill>
                      <a:srgbClr val="1F374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Active output</a:t>
                      </a:r>
                    </a:p>
                  </a:txBody>
                  <a:tcPr marL="18288" marR="18288" marT="9144" marB="9144">
                    <a:solidFill>
                      <a:srgbClr val="1F37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Y₀ = 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Y₁ = 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Y₂ = 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Y₃ = 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Y₄ = 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Y₅ = 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0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Y₆ = 1</a:t>
                      </a:r>
                    </a:p>
                  </a:txBody>
                  <a:tcPr marL="18288" marR="18288" marT="9144" marB="9144">
                    <a:solidFill>
                      <a:srgbClr val="E1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8333D"/>
                          </a:solidFill>
                          <a:latin typeface="Aptos"/>
                        </a:rPr>
                        <a:t>Y₇ = 1</a:t>
                      </a:r>
                    </a:p>
                  </a:txBody>
                  <a:tcPr marL="18288" marR="18288" marT="9144" marB="914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355080" y="5806440"/>
            <a:ext cx="512064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All other outputs remain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088136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2700" b="1">
                <a:solidFill>
                  <a:srgbClr val="1F374F"/>
                </a:solidFill>
                <a:latin typeface="Aptos"/>
              </a:rPr>
              <a:t>Conclusion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6984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64737D"/>
                </a:solidFill>
                <a:latin typeface="Aptos"/>
              </a:rPr>
              <a:t>Decoders are simple building blocks used to select one destination or device.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33856"/>
            <a:ext cx="1051560" cy="54864"/>
          </a:xfrm>
          <a:prstGeom prst="rect">
            <a:avLst/>
          </a:prstGeom>
          <a:solidFill>
            <a:srgbClr val="14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384280" y="6473952"/>
            <a:ext cx="32004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/>
            <a:r>
              <a:rPr sz="1000" b="1">
                <a:solidFill>
                  <a:srgbClr val="64737D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4663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4663440" cy="3108960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A 2-to-4 decoder maps 2 input bits to 4 outputs.</a:t>
            </a:r>
          </a:p>
          <a:p>
            <a:pPr>
              <a:spcAft>
                <a:spcPts val="13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A 3-to-8 decoder maps 3 input bits to 8 outputs.</a:t>
            </a:r>
          </a:p>
          <a:p>
            <a:pPr>
              <a:spcAft>
                <a:spcPts val="13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NOT and AND gates implement the required minterms.</a:t>
            </a:r>
          </a:p>
          <a:p>
            <a:pPr>
              <a:spcAft>
                <a:spcPts val="1300"/>
              </a:spcAft>
              <a:defRPr sz="1500">
                <a:solidFill>
                  <a:srgbClr val="28333D"/>
                </a:solidFill>
                <a:latin typeface="Aptos"/>
              </a:defRPr>
            </a:pPr>
            <a:r>
              <a:t>•  Truth-table testing confirms one active output for each valid input.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E1F3F8"/>
          </a:solidFill>
          <a:ln w="12700">
            <a:solidFill>
              <a:srgbClr val="C6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6634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1">
                <a:solidFill>
                  <a:srgbClr val="148C8C"/>
                </a:solidFill>
                <a:latin typeface="Aptos"/>
              </a:rPr>
              <a:t>APPLICATIONS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148840"/>
            <a:ext cx="4663440" cy="1581972"/>
          </a:xfrm>
          <a:prstGeom prst="rect">
            <a:avLst/>
          </a:prstGeom>
          <a:noFill/>
        </p:spPr>
        <p:txBody>
          <a:bodyPr wrap="square" tIns="73152" rIns="73152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8333D"/>
                </a:solidFill>
                <a:latin typeface="Aptos"/>
              </a:defRPr>
            </a:pPr>
            <a:r>
              <a:rPr dirty="0"/>
              <a:t>•  Memory address and I/O device selection.</a:t>
            </a:r>
          </a:p>
          <a:p>
            <a:pPr>
              <a:spcAft>
                <a:spcPts val="1000"/>
              </a:spcAft>
              <a:defRPr sz="1400">
                <a:solidFill>
                  <a:srgbClr val="28333D"/>
                </a:solidFill>
                <a:latin typeface="Aptos"/>
              </a:defRPr>
            </a:pPr>
            <a:r>
              <a:rPr dirty="0"/>
              <a:t>•  Instruction decoding in processors.</a:t>
            </a:r>
          </a:p>
          <a:p>
            <a:pPr>
              <a:spcAft>
                <a:spcPts val="1000"/>
              </a:spcAft>
              <a:defRPr sz="1400">
                <a:solidFill>
                  <a:srgbClr val="28333D"/>
                </a:solidFill>
                <a:latin typeface="Aptos"/>
              </a:defRPr>
            </a:pPr>
            <a:r>
              <a:rPr dirty="0"/>
              <a:t>•  Seven-segment display and control systems (with suitable logic).</a:t>
            </a:r>
          </a:p>
          <a:p>
            <a:pPr>
              <a:spcAft>
                <a:spcPts val="1000"/>
              </a:spcAft>
              <a:defRPr sz="1400">
                <a:solidFill>
                  <a:srgbClr val="28333D"/>
                </a:solidFill>
                <a:latin typeface="Aptos"/>
              </a:defRPr>
            </a:pPr>
            <a:r>
              <a:rPr dirty="0"/>
              <a:t>•  Digital communication and data routing.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634" y="6172200"/>
            <a:ext cx="10698480" cy="3477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lang="en-IN" sz="1300" b="1" dirty="0">
                <a:solidFill>
                  <a:srgbClr val="1F374F"/>
                </a:solidFill>
                <a:latin typeface="Aptos"/>
              </a:rPr>
              <a:t>•</a:t>
            </a:r>
            <a:r>
              <a:rPr lang="en-US" sz="1300" b="1" dirty="0">
                <a:solidFill>
                  <a:srgbClr val="1F374F"/>
                </a:solidFill>
                <a:latin typeface="Aptos"/>
              </a:rPr>
              <a:t> </a:t>
            </a:r>
            <a:r>
              <a:rPr sz="1300" b="1" dirty="0">
                <a:solidFill>
                  <a:srgbClr val="1F374F"/>
                </a:solidFill>
                <a:latin typeface="Aptos"/>
              </a:rPr>
              <a:t>Thank you 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692</Words>
  <Application>Microsoft Office PowerPoint</Application>
  <PresentationFormat>Widescreen</PresentationFormat>
  <Paragraphs>156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Kumar Shah</cp:lastModifiedBy>
  <cp:revision>4</cp:revision>
  <dcterms:created xsi:type="dcterms:W3CDTF">2013-01-27T09:14:16Z</dcterms:created>
  <dcterms:modified xsi:type="dcterms:W3CDTF">2026-10-14T18:19:02Z</dcterms:modified>
  <cp:category/>
</cp:coreProperties>
</file>